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97" r:id="rId3"/>
    <p:sldId id="299" r:id="rId4"/>
    <p:sldId id="300" r:id="rId5"/>
    <p:sldId id="257" r:id="rId6"/>
    <p:sldId id="258" r:id="rId7"/>
    <p:sldId id="261" r:id="rId8"/>
    <p:sldId id="274" r:id="rId9"/>
    <p:sldId id="262" r:id="rId10"/>
    <p:sldId id="263" r:id="rId11"/>
    <p:sldId id="275" r:id="rId12"/>
    <p:sldId id="276" r:id="rId13"/>
    <p:sldId id="280" r:id="rId14"/>
    <p:sldId id="281" r:id="rId15"/>
    <p:sldId id="282" r:id="rId16"/>
    <p:sldId id="283" r:id="rId17"/>
    <p:sldId id="284" r:id="rId18"/>
    <p:sldId id="285" r:id="rId19"/>
    <p:sldId id="286" r:id="rId20"/>
    <p:sldId id="272" r:id="rId21"/>
    <p:sldId id="287" r:id="rId22"/>
    <p:sldId id="288" r:id="rId23"/>
    <p:sldId id="289" r:id="rId24"/>
    <p:sldId id="295" r:id="rId25"/>
    <p:sldId id="290" r:id="rId26"/>
    <p:sldId id="292" r:id="rId27"/>
    <p:sldId id="293" r:id="rId28"/>
    <p:sldId id="296" r:id="rId29"/>
    <p:sldId id="294" r:id="rId30"/>
    <p:sldId id="298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988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16C8D-1E74-1D71-0193-C5D3161DB5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78AB2C-87AB-1C9B-AE40-849A28B7A5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6C1829-0538-70ED-08F6-0D73413B52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02EFA-7847-43C9-A066-E6CEFBC5808D}" type="datetimeFigureOut">
              <a:rPr lang="en-US" smtClean="0"/>
              <a:t>3/16/2023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DAD704-91D2-D918-2A2C-642F3809E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D6FA46-E97D-4BC2-FE06-4BD0D9E38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81C5E-6061-406D-A36E-5CFDA0AE24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2187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5FF01-F1B5-019E-B2EC-AEF227DD6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33EE8D-5150-E569-5A1D-408CBAD837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EF782-FF07-A63F-9253-92B6FE4AA9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02EFA-7847-43C9-A066-E6CEFBC5808D}" type="datetimeFigureOut">
              <a:rPr lang="en-US" smtClean="0"/>
              <a:t>3/16/2023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7DB5CD-66B8-8565-0058-5E25E3134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F8DB20-1EE6-3726-5544-EB21AF386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81C5E-6061-406D-A36E-5CFDA0AE24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9513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31483-7E4C-AF3F-55F6-DE675A04D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79D6CB-EC19-5984-7F3E-AD04FA0C15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58E029-A345-7785-CB4E-2CCDEA7EB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02EFA-7847-43C9-A066-E6CEFBC5808D}" type="datetimeFigureOut">
              <a:rPr lang="en-US" smtClean="0"/>
              <a:t>3/16/2023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411DBB-1A0D-6A07-4DEB-CD0F01DF6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832946-0958-F4EA-FCE2-65CB89866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81C5E-6061-406D-A36E-5CFDA0AE24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383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7CFF4-A231-55DF-4726-79F1C434D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0BE60-E7D3-522F-064C-86DF09623A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3F7E66-5993-ED3F-C752-BB10492A6F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9E7B95-296D-8C41-5B13-E01652EF1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02EFA-7847-43C9-A066-E6CEFBC5808D}" type="datetimeFigureOut">
              <a:rPr lang="en-US" smtClean="0"/>
              <a:t>3/16/2023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42EC90-6C14-CB87-0FC5-093E00BC0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D0B4F5-6EEA-D355-A3AF-534AC3E49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81C5E-6061-406D-A36E-5CFDA0AE24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458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9CCA8-151A-CE36-F730-2F5D9B179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5F9D49-92DC-CE26-6EA5-A2DCD8E7F7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90F5A8-2D53-5CC7-B8AA-783A1C51DA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40BDB3-EB8F-7445-20BF-F56D129154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15D2DE-0D06-6108-0C15-EDD7A94E1A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8F8FB5C-DCDF-F562-3B0D-76A3BBCC4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02EFA-7847-43C9-A066-E6CEFBC5808D}" type="datetimeFigureOut">
              <a:rPr lang="en-US" smtClean="0"/>
              <a:t>3/16/2023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8FE19D-D062-A8AA-02F2-444BE5C06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07C85D-44DA-6474-0F51-8360062FD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81C5E-6061-406D-A36E-5CFDA0AE24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4126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CB1BC-AC69-2D3E-5150-1A2C8EFA9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81AA90-4A37-BE68-1D76-CAF379C0B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02EFA-7847-43C9-A066-E6CEFBC5808D}" type="datetimeFigureOut">
              <a:rPr lang="en-US" smtClean="0"/>
              <a:t>3/16/2023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9FE6CD-383D-F3DE-0846-7AAAF4FE3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B14503-27C1-C123-FD1D-9B39EAF68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81C5E-6061-406D-A36E-5CFDA0AE24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179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D8E333-A7EC-F9D0-70B1-92E75893D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02EFA-7847-43C9-A066-E6CEFBC5808D}" type="datetimeFigureOut">
              <a:rPr lang="en-US" smtClean="0"/>
              <a:t>3/16/2023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ECC6D3-55B9-50E4-F0FB-F3B10FE56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EDF20-1012-0EC3-998F-224DD429E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81C5E-6061-406D-A36E-5CFDA0AE24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2187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E387B-CD37-78CE-A79C-6CB58F76B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A3D0EC-289E-AADA-3F24-C77DA7179B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4482E5-DE8D-8879-EA47-B7025DDC51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D75CD6-DCB0-22BC-5F92-964685555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02EFA-7847-43C9-A066-E6CEFBC5808D}" type="datetimeFigureOut">
              <a:rPr lang="en-US" smtClean="0"/>
              <a:t>3/16/2023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DE501C-7BEE-F8CF-1FD7-4EDD3B5BB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BAAE24-1D5F-B50D-852B-348A599DB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81C5E-6061-406D-A36E-5CFDA0AE24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1740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803C5-E3F6-A1BA-06A4-4941F6A83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B983145-C4F1-986E-4F87-5D9B18D247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5366D2-B60A-D869-B7BD-63D8D7F107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B04C53-A52D-EF6D-1ECB-BBE494BD8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02EFA-7847-43C9-A066-E6CEFBC5808D}" type="datetimeFigureOut">
              <a:rPr lang="en-US" smtClean="0"/>
              <a:t>3/16/2023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59D1B7-3960-9BB9-260C-1F7633D77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3D1E22-1811-9367-BA4E-5EC65B419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81C5E-6061-406D-A36E-5CFDA0AE24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9668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44D1B-995E-5E22-CD80-C46D8B6FB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0B00B3-02AC-E750-DFB4-B5BC7D9DBB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21C7D7-F23B-342E-D158-A59807159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02EFA-7847-43C9-A066-E6CEFBC5808D}" type="datetimeFigureOut">
              <a:rPr lang="en-US" smtClean="0"/>
              <a:t>3/16/2023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68CEB4-F727-8B56-D6FF-D9744714C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B389DE-177F-3B4E-55A0-BC70FE7D0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81C5E-6061-406D-A36E-5CFDA0AE24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5358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27BF6D0-B779-7C23-7D84-3919A47C4C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47BF67-1B04-2FB1-EE7E-63A99B645C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B208E3-E3FE-1E6E-90EA-C9821D89D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02EFA-7847-43C9-A066-E6CEFBC5808D}" type="datetimeFigureOut">
              <a:rPr lang="en-US" smtClean="0"/>
              <a:t>3/16/2023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FCE620-E77D-6276-2060-8574DD65F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0697CB-DB13-9CD3-FC06-101DED164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81C5E-6061-406D-A36E-5CFDA0AE24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5792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7325CF-0DC2-097E-492D-7F60FDCA7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D4DE63-6FA6-143B-23A7-9890797F79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09C26B-57C0-255C-85CC-D75D850FEE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802EFA-7847-43C9-A066-E6CEFBC5808D}" type="datetimeFigureOut">
              <a:rPr lang="en-US" smtClean="0"/>
              <a:t>3/16/2023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DBE972-7205-A0D7-28E9-65F259E84A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414945-BF52-31DA-434E-64E5D6D500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F81C5E-6061-406D-A36E-5CFDA0AE24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2743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://101.101.210.42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60781-BBBC-81AC-A91D-A31E68B10BE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sz="7200"/>
              <a:t>개인 프로젝트</a:t>
            </a:r>
            <a:endParaRPr lang="en-US" sz="72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316738-1D62-1F1D-9977-3FC2C5D3F4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85920"/>
            <a:ext cx="9144000" cy="1224280"/>
          </a:xfrm>
        </p:spPr>
        <p:txBody>
          <a:bodyPr>
            <a:normAutofit/>
          </a:bodyPr>
          <a:lstStyle/>
          <a:p>
            <a:r>
              <a:rPr lang="ko-KR" altLang="en-US" sz="4000"/>
              <a:t>박영화</a:t>
            </a:r>
            <a:endParaRPr lang="en-US" sz="4000"/>
          </a:p>
        </p:txBody>
      </p:sp>
    </p:spTree>
    <p:extLst>
      <p:ext uri="{BB962C8B-B14F-4D97-AF65-F5344CB8AC3E}">
        <p14:creationId xmlns:p14="http://schemas.microsoft.com/office/powerpoint/2010/main" val="8161884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8D3A0-BED1-AA74-DBF0-EB9F7722A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Development skill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5F238A-D06F-8532-DDCB-6F19523152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Language</a:t>
            </a:r>
          </a:p>
          <a:p>
            <a:pPr lvl="1"/>
            <a:r>
              <a:rPr lang="en-US"/>
              <a:t>C/C++, java, python, C#, JS, html, css</a:t>
            </a:r>
          </a:p>
          <a:p>
            <a:r>
              <a:rPr lang="en-US"/>
              <a:t>Web</a:t>
            </a:r>
          </a:p>
          <a:p>
            <a:pPr lvl="1"/>
            <a:r>
              <a:rPr lang="en-US"/>
              <a:t>Full stack </a:t>
            </a:r>
          </a:p>
          <a:p>
            <a:pPr lvl="2"/>
            <a:r>
              <a:rPr lang="en-US"/>
              <a:t> React, express.js, postgresql </a:t>
            </a:r>
          </a:p>
          <a:p>
            <a:r>
              <a:rPr lang="en-US"/>
              <a:t> AI</a:t>
            </a:r>
          </a:p>
          <a:p>
            <a:pPr lvl="1"/>
            <a:r>
              <a:rPr lang="en-US"/>
              <a:t>Tensorflow, keras</a:t>
            </a:r>
          </a:p>
          <a:p>
            <a:r>
              <a:rPr lang="en-US"/>
              <a:t>App</a:t>
            </a:r>
          </a:p>
          <a:p>
            <a:pPr lvl="1"/>
            <a:r>
              <a:rPr lang="en-US"/>
              <a:t>.NET(WPF)</a:t>
            </a:r>
          </a:p>
          <a:p>
            <a:pPr marL="457200" lvl="1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631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57A45-94A3-1D01-58DF-0421ED268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Favorites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F8BAC3-9DD9-A3C1-373B-8A1AF1F738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Language</a:t>
            </a:r>
          </a:p>
          <a:p>
            <a:pPr lvl="1"/>
            <a:r>
              <a:rPr lang="en-US"/>
              <a:t>C, JS</a:t>
            </a:r>
          </a:p>
          <a:p>
            <a:pPr lvl="1"/>
            <a:endParaRPr lang="en-US"/>
          </a:p>
          <a:p>
            <a:r>
              <a:rPr lang="en-US"/>
              <a:t>Field</a:t>
            </a:r>
          </a:p>
          <a:p>
            <a:pPr lvl="1"/>
            <a:r>
              <a:rPr lang="en-US"/>
              <a:t>Web backend, Server</a:t>
            </a:r>
          </a:p>
          <a:p>
            <a:pPr lvl="1"/>
            <a:r>
              <a:rPr lang="en-US"/>
              <a:t>AI</a:t>
            </a:r>
          </a:p>
          <a:p>
            <a:pPr lvl="1"/>
            <a:endParaRPr lang="en-US"/>
          </a:p>
          <a:p>
            <a:r>
              <a:rPr lang="en-US"/>
              <a:t>Subject</a:t>
            </a:r>
          </a:p>
          <a:p>
            <a:pPr lvl="1"/>
            <a:r>
              <a:rPr lang="en-US"/>
              <a:t>Network</a:t>
            </a:r>
          </a:p>
          <a:p>
            <a:pPr lvl="1"/>
            <a:r>
              <a:rPr lang="en-US"/>
              <a:t>Deep learning</a:t>
            </a: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8593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ABC6D-A152-9C00-A1A7-7177762DF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github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608C34-1E5B-05F5-B707-C03D353F2D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https://github.com/poh12077?tab=repositories</a:t>
            </a:r>
          </a:p>
        </p:txBody>
      </p:sp>
    </p:spTree>
    <p:extLst>
      <p:ext uri="{BB962C8B-B14F-4D97-AF65-F5344CB8AC3E}">
        <p14:creationId xmlns:p14="http://schemas.microsoft.com/office/powerpoint/2010/main" val="41189790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1A645-3A81-37F2-61F2-2E7ECD281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ko-KR" altLang="en-US"/>
              <a:t>프로젝트 목차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88B520-8F37-812C-2CC2-7F21536D39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/>
              <a:t>Web </a:t>
            </a:r>
          </a:p>
          <a:p>
            <a:pPr marL="514350" indent="-514350">
              <a:buFont typeface="+mj-lt"/>
              <a:buAutoNum type="arabicPeriod"/>
            </a:pPr>
            <a:r>
              <a:rPr lang="ko-KR" altLang="en-US"/>
              <a:t>영상처리</a:t>
            </a:r>
            <a:endParaRPr lang="en-US" altLang="ko-KR"/>
          </a:p>
          <a:p>
            <a:pPr marL="971550" lvl="1" indent="-514350">
              <a:buFont typeface="+mj-lt"/>
              <a:buAutoNum type="arabicPeriod"/>
            </a:pPr>
            <a:r>
              <a:rPr lang="en-US" altLang="ko-KR"/>
              <a:t>Histogram viewer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ko-KR"/>
              <a:t>Edge detection viewer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ko-KR"/>
              <a:t>Dicom viewer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AI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Chatting server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Android App</a:t>
            </a:r>
          </a:p>
          <a:p>
            <a:pPr marL="514350" indent="-514350">
              <a:buFont typeface="+mj-lt"/>
              <a:buAutoNum type="arabicPeriod"/>
            </a:pPr>
            <a:r>
              <a:rPr lang="ko-KR" altLang="en-US"/>
              <a:t>모자이크</a:t>
            </a:r>
            <a:endParaRPr lang="en-US"/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5385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1A645-3A81-37F2-61F2-2E7ECD281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1. Web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88B520-8F37-812C-2CC2-7F21536D39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/>
              <a:t>URL</a:t>
            </a:r>
          </a:p>
          <a:p>
            <a:pPr lvl="1"/>
            <a:r>
              <a:rPr lang="en-US">
                <a:hlinkClick r:id="rId2"/>
              </a:rPr>
              <a:t>http://101.101.210.42/</a:t>
            </a:r>
            <a:endParaRPr lang="en-US"/>
          </a:p>
          <a:p>
            <a:r>
              <a:rPr lang="ko-KR" altLang="en-US"/>
              <a:t>기능</a:t>
            </a:r>
            <a:endParaRPr lang="en-US" altLang="ko-KR"/>
          </a:p>
          <a:p>
            <a:pPr lvl="1"/>
            <a:r>
              <a:rPr lang="en-US" altLang="ko-KR"/>
              <a:t>Love Tab : </a:t>
            </a:r>
            <a:r>
              <a:rPr lang="en-US"/>
              <a:t>MBTI</a:t>
            </a:r>
            <a:r>
              <a:rPr lang="ko-KR" altLang="en-US"/>
              <a:t>와 비슷하게 연애 타입을 검사할 수 있다</a:t>
            </a:r>
            <a:endParaRPr lang="en-US" altLang="ko-KR"/>
          </a:p>
          <a:p>
            <a:pPr lvl="1"/>
            <a:r>
              <a:rPr lang="en-US" altLang="ko-KR"/>
              <a:t>Politics Tab : </a:t>
            </a:r>
            <a:r>
              <a:rPr lang="ko-KR" altLang="en-US"/>
              <a:t>여론조사에 활용될 수 있다</a:t>
            </a:r>
            <a:endParaRPr lang="en-US" altLang="ko-KR"/>
          </a:p>
          <a:p>
            <a:pPr marL="457200" lvl="1" indent="0">
              <a:buNone/>
            </a:pPr>
            <a:endParaRPr lang="en-US"/>
          </a:p>
          <a:p>
            <a:r>
              <a:rPr lang="en-US"/>
              <a:t>Tech Stack</a:t>
            </a:r>
          </a:p>
          <a:p>
            <a:pPr lvl="1"/>
            <a:r>
              <a:rPr lang="en-US"/>
              <a:t>Frontend : React</a:t>
            </a:r>
          </a:p>
          <a:p>
            <a:pPr lvl="1"/>
            <a:r>
              <a:rPr lang="en-US"/>
              <a:t>Backend : Express.js</a:t>
            </a:r>
          </a:p>
          <a:p>
            <a:pPr lvl="1"/>
            <a:r>
              <a:rPr lang="en-US"/>
              <a:t>DB : Postgresql</a:t>
            </a:r>
          </a:p>
          <a:p>
            <a:pPr marL="457200" lvl="1" indent="0">
              <a:buNone/>
            </a:pPr>
            <a:endParaRPr lang="en-US"/>
          </a:p>
          <a:p>
            <a:r>
              <a:rPr lang="en-US"/>
              <a:t>Login ( test </a:t>
            </a:r>
            <a:r>
              <a:rPr lang="ko-KR" altLang="en-US"/>
              <a:t>계정</a:t>
            </a:r>
            <a:r>
              <a:rPr lang="en-US" altLang="ko-KR"/>
              <a:t> )</a:t>
            </a:r>
            <a:endParaRPr lang="en-US"/>
          </a:p>
          <a:p>
            <a:pPr lvl="1"/>
            <a:r>
              <a:rPr lang="en-US"/>
              <a:t>Id : test</a:t>
            </a:r>
          </a:p>
          <a:p>
            <a:pPr lvl="1"/>
            <a:r>
              <a:rPr lang="en-US"/>
              <a:t>Password : 1</a:t>
            </a:r>
          </a:p>
          <a:p>
            <a:endParaRPr lang="en-US" altLang="ko-KR"/>
          </a:p>
          <a:p>
            <a:pPr lvl="1"/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3066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887F0-A845-C864-0920-DC20F0CAE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ko-KR"/>
              <a:t>2. </a:t>
            </a:r>
            <a:r>
              <a:rPr lang="ko-KR" altLang="en-US"/>
              <a:t>영상 처리 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EB1189-2AF5-F2E3-03E4-6B208E2E7B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/>
              <a:t>Histogram Viewer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Edge detection Viewer</a:t>
            </a:r>
          </a:p>
          <a:p>
            <a:pPr marL="514350" indent="-514350">
              <a:buFont typeface="+mj-lt"/>
              <a:buAutoNum type="arabicPeriod"/>
            </a:pPr>
            <a:r>
              <a:rPr lang="ko-KR" altLang="en-US"/>
              <a:t>의료 영상 </a:t>
            </a:r>
            <a:r>
              <a:rPr lang="en-US"/>
              <a:t>Viewer</a:t>
            </a:r>
          </a:p>
        </p:txBody>
      </p:sp>
    </p:spTree>
    <p:extLst>
      <p:ext uri="{BB962C8B-B14F-4D97-AF65-F5344CB8AC3E}">
        <p14:creationId xmlns:p14="http://schemas.microsoft.com/office/powerpoint/2010/main" val="17450131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4D279-F1C4-60F2-E10E-3C54679CC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2-1. Histogram Viewer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2918C9-C299-9FB1-CAF6-202CC37E69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기능 </a:t>
            </a:r>
            <a:endParaRPr lang="en-US" altLang="ko-KR"/>
          </a:p>
          <a:p>
            <a:pPr lvl="1"/>
            <a:r>
              <a:rPr lang="en-US" altLang="ko-KR"/>
              <a:t>Image </a:t>
            </a:r>
            <a:r>
              <a:rPr lang="ko-KR" altLang="en-US"/>
              <a:t>의 </a:t>
            </a:r>
            <a:r>
              <a:rPr lang="en-US" altLang="ko-KR"/>
              <a:t>histogram </a:t>
            </a:r>
            <a:r>
              <a:rPr lang="ko-KR" altLang="en-US"/>
              <a:t>을 보여준다</a:t>
            </a:r>
            <a:endParaRPr lang="en-US" altLang="ko-KR"/>
          </a:p>
          <a:p>
            <a:pPr lvl="1"/>
            <a:r>
              <a:rPr lang="en-US" altLang="ko-KR"/>
              <a:t>X </a:t>
            </a:r>
            <a:r>
              <a:rPr lang="ko-KR" altLang="en-US"/>
              <a:t>축 </a:t>
            </a:r>
            <a:r>
              <a:rPr lang="en-US" altLang="ko-KR"/>
              <a:t>: pixel </a:t>
            </a:r>
            <a:r>
              <a:rPr lang="ko-KR" altLang="en-US"/>
              <a:t>값</a:t>
            </a:r>
            <a:endParaRPr lang="en-US" altLang="ko-KR"/>
          </a:p>
          <a:p>
            <a:pPr lvl="1"/>
            <a:r>
              <a:rPr lang="en-US" altLang="ko-KR"/>
              <a:t>Y </a:t>
            </a:r>
            <a:r>
              <a:rPr lang="ko-KR" altLang="en-US"/>
              <a:t>축 </a:t>
            </a:r>
            <a:r>
              <a:rPr lang="en-US" altLang="ko-KR"/>
              <a:t>: pixel </a:t>
            </a:r>
            <a:r>
              <a:rPr lang="ko-KR" altLang="en-US"/>
              <a:t>개수</a:t>
            </a:r>
            <a:endParaRPr lang="en-US" altLang="ko-KR"/>
          </a:p>
          <a:p>
            <a:pPr marL="457200" lvl="1" indent="0">
              <a:buNone/>
            </a:pPr>
            <a:endParaRPr lang="en-US" altLang="ko-KR"/>
          </a:p>
          <a:p>
            <a:r>
              <a:rPr lang="en-US"/>
              <a:t>Tech Stack</a:t>
            </a:r>
          </a:p>
          <a:p>
            <a:pPr lvl="1"/>
            <a:r>
              <a:rPr lang="en-US"/>
              <a:t>C#</a:t>
            </a:r>
          </a:p>
          <a:p>
            <a:pPr lvl="1"/>
            <a:r>
              <a:rPr lang="en-US"/>
              <a:t>WPF</a:t>
            </a:r>
          </a:p>
        </p:txBody>
      </p:sp>
    </p:spTree>
    <p:extLst>
      <p:ext uri="{BB962C8B-B14F-4D97-AF65-F5344CB8AC3E}">
        <p14:creationId xmlns:p14="http://schemas.microsoft.com/office/powerpoint/2010/main" val="12237289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6F2622A-BD46-56BE-BD38-CF1E21ADA1D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790" y="1016000"/>
            <a:ext cx="10798421" cy="534416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EBE0186-BEF1-3911-D2CE-766293769034}"/>
              </a:ext>
            </a:extLst>
          </p:cNvPr>
          <p:cNvSpPr txBox="1"/>
          <p:nvPr/>
        </p:nvSpPr>
        <p:spPr>
          <a:xfrm>
            <a:off x="3960962" y="201990"/>
            <a:ext cx="42700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/>
              <a:t>gray scale image </a:t>
            </a:r>
          </a:p>
        </p:txBody>
      </p:sp>
    </p:spTree>
    <p:extLst>
      <p:ext uri="{BB962C8B-B14F-4D97-AF65-F5344CB8AC3E}">
        <p14:creationId xmlns:p14="http://schemas.microsoft.com/office/powerpoint/2010/main" val="15925079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B63AC13-0492-909B-7413-06CDECB4B30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960" y="1137919"/>
            <a:ext cx="10902279" cy="5222241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67EAFFA-4A7A-2854-2273-A59356379094}"/>
              </a:ext>
            </a:extLst>
          </p:cNvPr>
          <p:cNvSpPr txBox="1"/>
          <p:nvPr/>
        </p:nvSpPr>
        <p:spPr>
          <a:xfrm>
            <a:off x="4284451" y="264161"/>
            <a:ext cx="36230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/>
              <a:t>Jpg image (RGB)</a:t>
            </a:r>
          </a:p>
        </p:txBody>
      </p:sp>
    </p:spTree>
    <p:extLst>
      <p:ext uri="{BB962C8B-B14F-4D97-AF65-F5344CB8AC3E}">
        <p14:creationId xmlns:p14="http://schemas.microsoft.com/office/powerpoint/2010/main" val="14036261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7D9EE-D3CA-3BA4-79E0-F5D93056D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2-2. Edge Detection Viewer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C643B5-6B92-43B3-2285-59D48B78B7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기능</a:t>
            </a:r>
            <a:endParaRPr lang="en-US" altLang="ko-KR"/>
          </a:p>
          <a:p>
            <a:pPr lvl="1"/>
            <a:r>
              <a:rPr lang="en-US"/>
              <a:t>Edge detection</a:t>
            </a:r>
          </a:p>
          <a:p>
            <a:pPr lvl="1"/>
            <a:r>
              <a:rPr lang="en-US"/>
              <a:t>Inversion</a:t>
            </a:r>
          </a:p>
          <a:p>
            <a:pPr lvl="1"/>
            <a:r>
              <a:rPr lang="en-US"/>
              <a:t>rotation</a:t>
            </a:r>
          </a:p>
          <a:p>
            <a:pPr lvl="1"/>
            <a:r>
              <a:rPr lang="en-US"/>
              <a:t>MRI viewing ( reconstruction )</a:t>
            </a:r>
          </a:p>
          <a:p>
            <a:pPr lvl="1"/>
            <a:endParaRPr lang="en-US"/>
          </a:p>
          <a:p>
            <a:r>
              <a:rPr lang="en-US"/>
              <a:t>Tech stack</a:t>
            </a:r>
          </a:p>
          <a:p>
            <a:pPr lvl="1"/>
            <a:r>
              <a:rPr lang="en-US"/>
              <a:t>C#</a:t>
            </a:r>
          </a:p>
          <a:p>
            <a:pPr lvl="1"/>
            <a:r>
              <a:rPr lang="en-US"/>
              <a:t>WPF</a:t>
            </a:r>
          </a:p>
          <a:p>
            <a:pPr marL="457200" lvl="1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7072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screenshot of a cell phone&#10;&#10;Description automatically generated">
            <a:extLst>
              <a:ext uri="{FF2B5EF4-FFF2-40B4-BE49-F238E27FC236}">
                <a16:creationId xmlns:a16="http://schemas.microsoft.com/office/drawing/2014/main" id="{5018CBA7-444A-414D-2802-DC6159F11E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239" y="1148080"/>
            <a:ext cx="10942321" cy="529336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0128B2E-C5ED-9CF4-259B-42489B9EFD9D}"/>
              </a:ext>
            </a:extLst>
          </p:cNvPr>
          <p:cNvSpPr txBox="1"/>
          <p:nvPr/>
        </p:nvSpPr>
        <p:spPr>
          <a:xfrm>
            <a:off x="3088639" y="314960"/>
            <a:ext cx="60147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/>
              <a:t>Edge detection ( Laplacian 1 )</a:t>
            </a:r>
          </a:p>
        </p:txBody>
      </p:sp>
    </p:spTree>
    <p:extLst>
      <p:ext uri="{BB962C8B-B14F-4D97-AF65-F5344CB8AC3E}">
        <p14:creationId xmlns:p14="http://schemas.microsoft.com/office/powerpoint/2010/main" val="15708496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5C2E7AD-3ED9-F346-2F0E-F5D13CD916EF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680" y="1056640"/>
            <a:ext cx="10708640" cy="530352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137C2A8-8452-E0FA-8D77-8F6D8C6C6EB2}"/>
              </a:ext>
            </a:extLst>
          </p:cNvPr>
          <p:cNvSpPr txBox="1"/>
          <p:nvPr/>
        </p:nvSpPr>
        <p:spPr>
          <a:xfrm>
            <a:off x="3572773" y="291765"/>
            <a:ext cx="50464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/>
              <a:t> Edge detection ( Sobel Y )</a:t>
            </a:r>
          </a:p>
        </p:txBody>
      </p:sp>
    </p:spTree>
    <p:extLst>
      <p:ext uri="{BB962C8B-B14F-4D97-AF65-F5344CB8AC3E}">
        <p14:creationId xmlns:p14="http://schemas.microsoft.com/office/powerpoint/2010/main" val="26185879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1137C2A8-8452-E0FA-8D77-8F6D8C6C6EB2}"/>
              </a:ext>
            </a:extLst>
          </p:cNvPr>
          <p:cNvSpPr txBox="1"/>
          <p:nvPr/>
        </p:nvSpPr>
        <p:spPr>
          <a:xfrm>
            <a:off x="3572773" y="255866"/>
            <a:ext cx="50464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/>
              <a:t>Inversion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9E1861B-BF56-1E55-6B43-ABF24CB8134D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440" y="1005839"/>
            <a:ext cx="10993120" cy="543560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410612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1137C2A8-8452-E0FA-8D77-8F6D8C6C6EB2}"/>
              </a:ext>
            </a:extLst>
          </p:cNvPr>
          <p:cNvSpPr txBox="1"/>
          <p:nvPr/>
        </p:nvSpPr>
        <p:spPr>
          <a:xfrm>
            <a:off x="3572773" y="301925"/>
            <a:ext cx="50464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/>
              <a:t>Rotation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F940936-EDA5-8FD3-3B12-B57922FA3214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016001"/>
            <a:ext cx="10932160" cy="53848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421488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1137C2A8-8452-E0FA-8D77-8F6D8C6C6EB2}"/>
              </a:ext>
            </a:extLst>
          </p:cNvPr>
          <p:cNvSpPr txBox="1"/>
          <p:nvPr/>
        </p:nvSpPr>
        <p:spPr>
          <a:xfrm>
            <a:off x="2357120" y="251125"/>
            <a:ext cx="75082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/>
              <a:t>MRI viewing ( Reconstruction 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FFDB453-1C7E-0FBC-DDD5-6C232CD2BDC0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800" y="1087120"/>
            <a:ext cx="11104880" cy="53848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660551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A8A9F-AB5D-603F-665D-0471482DB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ko-KR"/>
              <a:t>2-2. </a:t>
            </a:r>
            <a:r>
              <a:rPr lang="ko-KR" altLang="en-US"/>
              <a:t>의료영상 </a:t>
            </a:r>
            <a:r>
              <a:rPr lang="en-US" altLang="ko-KR"/>
              <a:t>Viewer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C06D1E-90B3-0916-AB4A-CCCEB01CA8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기능</a:t>
            </a:r>
            <a:endParaRPr lang="en-US" altLang="ko-KR"/>
          </a:p>
          <a:p>
            <a:pPr lvl="1"/>
            <a:r>
              <a:rPr lang="ko-KR" altLang="en-US"/>
              <a:t>의료영상</a:t>
            </a:r>
            <a:r>
              <a:rPr lang="en-US" altLang="ko-KR"/>
              <a:t>(dicom)</a:t>
            </a:r>
            <a:r>
              <a:rPr lang="ko-KR" altLang="en-US"/>
              <a:t>을 </a:t>
            </a:r>
            <a:r>
              <a:rPr lang="en-US" altLang="ko-KR"/>
              <a:t>viewing </a:t>
            </a:r>
            <a:r>
              <a:rPr lang="ko-KR" altLang="en-US"/>
              <a:t>할 수 있다</a:t>
            </a:r>
            <a:endParaRPr lang="en-US" altLang="ko-KR"/>
          </a:p>
          <a:p>
            <a:pPr lvl="1"/>
            <a:endParaRPr lang="en-US" altLang="ko-KR"/>
          </a:p>
          <a:p>
            <a:r>
              <a:rPr lang="en-US" altLang="ko-KR"/>
              <a:t>Teck stack</a:t>
            </a:r>
          </a:p>
          <a:p>
            <a:pPr lvl="1"/>
            <a:r>
              <a:rPr lang="en-US" altLang="ko-KR"/>
              <a:t>C#</a:t>
            </a:r>
          </a:p>
          <a:p>
            <a:pPr lvl="1"/>
            <a:r>
              <a:rPr lang="en-US" altLang="ko-KR"/>
              <a:t>WPF</a:t>
            </a:r>
          </a:p>
          <a:p>
            <a:pPr lvl="1"/>
            <a:r>
              <a:rPr lang="en-US" altLang="ko-KR"/>
              <a:t>Fo-dicom API</a:t>
            </a:r>
          </a:p>
        </p:txBody>
      </p:sp>
    </p:spTree>
    <p:extLst>
      <p:ext uri="{BB962C8B-B14F-4D97-AF65-F5344CB8AC3E}">
        <p14:creationId xmlns:p14="http://schemas.microsoft.com/office/powerpoint/2010/main" val="22066878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1137C2A8-8452-E0FA-8D77-8F6D8C6C6EB2}"/>
              </a:ext>
            </a:extLst>
          </p:cNvPr>
          <p:cNvSpPr txBox="1"/>
          <p:nvPr/>
        </p:nvSpPr>
        <p:spPr>
          <a:xfrm>
            <a:off x="3572773" y="301925"/>
            <a:ext cx="50464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b="1"/>
              <a:t>의료영상</a:t>
            </a:r>
            <a:r>
              <a:rPr lang="en-US" altLang="ko-KR" sz="3200" b="1"/>
              <a:t>(dicom) viewing</a:t>
            </a:r>
            <a:endParaRPr lang="en-US" sz="3200" b="1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9851662-D555-5EF0-E606-B504186B5C4F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" y="1036320"/>
            <a:ext cx="11216640" cy="551975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722299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3FF41F2-3A80-D601-F9A9-983907E1DD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640" y="1036320"/>
            <a:ext cx="11348720" cy="552704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9E3B343-C1B7-4C3A-CE56-CD2FBCFFC91B}"/>
              </a:ext>
            </a:extLst>
          </p:cNvPr>
          <p:cNvSpPr txBox="1"/>
          <p:nvPr/>
        </p:nvSpPr>
        <p:spPr>
          <a:xfrm>
            <a:off x="1229822" y="294640"/>
            <a:ext cx="97323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/>
              <a:t>마우스로 타원을 그려서 타원 안의 </a:t>
            </a:r>
            <a:r>
              <a:rPr lang="en-US" altLang="ko-KR" sz="2400" b="1"/>
              <a:t>max, min, mean, std </a:t>
            </a:r>
            <a:r>
              <a:rPr lang="ko-KR" altLang="en-US" sz="2400" b="1"/>
              <a:t>등 확인</a:t>
            </a:r>
            <a:endParaRPr lang="en-US" sz="2400" b="1"/>
          </a:p>
        </p:txBody>
      </p:sp>
    </p:spTree>
    <p:extLst>
      <p:ext uri="{BB962C8B-B14F-4D97-AF65-F5344CB8AC3E}">
        <p14:creationId xmlns:p14="http://schemas.microsoft.com/office/powerpoint/2010/main" val="28058478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C9996A2-E913-0255-91B0-7D4BCE7AA0E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443" y="940279"/>
            <a:ext cx="11382326" cy="5630471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351E224-2BD1-0F2E-10EA-A36D11915EA2}"/>
              </a:ext>
            </a:extLst>
          </p:cNvPr>
          <p:cNvSpPr txBox="1"/>
          <p:nvPr/>
        </p:nvSpPr>
        <p:spPr>
          <a:xfrm>
            <a:off x="1777999" y="287251"/>
            <a:ext cx="863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/>
              <a:t>의료영상</a:t>
            </a:r>
            <a:r>
              <a:rPr lang="en-US" altLang="ko-KR" sz="2400" b="1"/>
              <a:t>(dicom) </a:t>
            </a:r>
            <a:r>
              <a:rPr lang="ko-KR" altLang="en-US" sz="2400" b="1"/>
              <a:t>의 헤더 확인</a:t>
            </a:r>
            <a:endParaRPr lang="en-US" sz="2400" b="1"/>
          </a:p>
        </p:txBody>
      </p:sp>
    </p:spTree>
    <p:extLst>
      <p:ext uri="{BB962C8B-B14F-4D97-AF65-F5344CB8AC3E}">
        <p14:creationId xmlns:p14="http://schemas.microsoft.com/office/powerpoint/2010/main" val="5907651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41642-4873-982F-F774-A0FF473EA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3.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80A2D4-48ED-3649-AC3D-98FBB9748A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/>
              <a:t>목표</a:t>
            </a:r>
            <a:endParaRPr lang="en-US" altLang="ko-KR"/>
          </a:p>
          <a:p>
            <a:pPr lvl="1"/>
            <a:r>
              <a:rPr lang="ko-KR" altLang="en-US"/>
              <a:t>전복의 나이 예측하기</a:t>
            </a:r>
            <a:endParaRPr lang="en-US" altLang="ko-KR"/>
          </a:p>
          <a:p>
            <a:pPr marL="457200" lvl="1" indent="0">
              <a:buNone/>
            </a:pPr>
            <a:endParaRPr lang="en-US" altLang="ko-KR"/>
          </a:p>
          <a:p>
            <a:r>
              <a:rPr lang="ko-KR" altLang="en-US"/>
              <a:t>데이터</a:t>
            </a:r>
            <a:endParaRPr lang="en-US" altLang="ko-KR"/>
          </a:p>
          <a:p>
            <a:pPr lvl="1"/>
            <a:r>
              <a:rPr lang="en-US" altLang="ko-KR"/>
              <a:t>Feature </a:t>
            </a:r>
          </a:p>
          <a:p>
            <a:pPr lvl="2"/>
            <a:r>
              <a:rPr lang="ko-KR" altLang="en-US"/>
              <a:t>성별</a:t>
            </a:r>
            <a:r>
              <a:rPr lang="en-US" altLang="ko-KR"/>
              <a:t>, </a:t>
            </a:r>
            <a:r>
              <a:rPr lang="ko-KR" altLang="en-US"/>
              <a:t>길이</a:t>
            </a:r>
            <a:r>
              <a:rPr lang="en-US" altLang="ko-KR"/>
              <a:t>, </a:t>
            </a:r>
            <a:r>
              <a:rPr lang="ko-KR" altLang="en-US"/>
              <a:t>지름</a:t>
            </a:r>
            <a:r>
              <a:rPr lang="en-US" altLang="ko-KR"/>
              <a:t>, </a:t>
            </a:r>
            <a:r>
              <a:rPr lang="ko-KR" altLang="en-US"/>
              <a:t>높이</a:t>
            </a:r>
            <a:r>
              <a:rPr lang="en-US" altLang="ko-KR"/>
              <a:t>, </a:t>
            </a:r>
            <a:r>
              <a:rPr lang="ko-KR" altLang="en-US"/>
              <a:t>무게</a:t>
            </a:r>
            <a:r>
              <a:rPr lang="en-US" altLang="ko-KR"/>
              <a:t>, </a:t>
            </a:r>
            <a:r>
              <a:rPr lang="ko-KR" altLang="en-US"/>
              <a:t>껍데기 무게</a:t>
            </a:r>
            <a:r>
              <a:rPr lang="en-US" altLang="ko-KR"/>
              <a:t>, </a:t>
            </a:r>
            <a:r>
              <a:rPr lang="ko-KR" altLang="en-US"/>
              <a:t>내장 무게</a:t>
            </a:r>
            <a:endParaRPr lang="en-US" altLang="ko-KR"/>
          </a:p>
          <a:p>
            <a:pPr lvl="1"/>
            <a:r>
              <a:rPr lang="ko-KR" altLang="en-US"/>
              <a:t>개수</a:t>
            </a:r>
            <a:endParaRPr lang="en-US" altLang="ko-KR"/>
          </a:p>
          <a:p>
            <a:pPr lvl="2"/>
            <a:r>
              <a:rPr lang="en-US" altLang="ko-KR"/>
              <a:t>4177</a:t>
            </a:r>
          </a:p>
          <a:p>
            <a:pPr lvl="1"/>
            <a:r>
              <a:rPr lang="ko-KR" altLang="en-US"/>
              <a:t>나이 </a:t>
            </a:r>
            <a:r>
              <a:rPr lang="en-US" altLang="ko-KR"/>
              <a:t>= </a:t>
            </a:r>
            <a:r>
              <a:rPr lang="ko-KR" altLang="en-US"/>
              <a:t>줄무늬</a:t>
            </a:r>
            <a:r>
              <a:rPr lang="en-US" altLang="ko-KR"/>
              <a:t>( ring) </a:t>
            </a:r>
            <a:r>
              <a:rPr lang="ko-KR" altLang="en-US"/>
              <a:t>개수</a:t>
            </a:r>
            <a:endParaRPr lang="en-US" altLang="ko-KR"/>
          </a:p>
          <a:p>
            <a:pPr lvl="1"/>
            <a:r>
              <a:rPr lang="ko-KR" altLang="en-US"/>
              <a:t>성별</a:t>
            </a:r>
            <a:endParaRPr lang="en-US" altLang="ko-KR"/>
          </a:p>
          <a:p>
            <a:pPr lvl="2"/>
            <a:r>
              <a:rPr lang="ko-KR" altLang="en-US"/>
              <a:t>수컷</a:t>
            </a:r>
            <a:r>
              <a:rPr lang="en-US" altLang="ko-KR"/>
              <a:t>=3, </a:t>
            </a:r>
            <a:r>
              <a:rPr lang="ko-KR" altLang="en-US"/>
              <a:t>암컷</a:t>
            </a:r>
            <a:r>
              <a:rPr lang="en-US" altLang="ko-KR"/>
              <a:t>=2, </a:t>
            </a:r>
            <a:r>
              <a:rPr lang="ko-KR" altLang="en-US"/>
              <a:t>유성</a:t>
            </a:r>
            <a:r>
              <a:rPr lang="en-US" altLang="ko-KR"/>
              <a:t>=1 </a:t>
            </a:r>
          </a:p>
        </p:txBody>
      </p:sp>
    </p:spTree>
    <p:extLst>
      <p:ext uri="{BB962C8B-B14F-4D97-AF65-F5344CB8AC3E}">
        <p14:creationId xmlns:p14="http://schemas.microsoft.com/office/powerpoint/2010/main" val="20442085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BE5D111-4399-7623-30FD-BED3215A8D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31085"/>
            <a:ext cx="12191999" cy="233883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10BBD9F-53FD-FD38-3951-A2BCC89A88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986088"/>
            <a:ext cx="12191999" cy="2073592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2E906E5-DE96-C3D9-B4BD-E0C523F7CF7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922044"/>
            <a:ext cx="12191998" cy="1935956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DF0442C-15FA-290D-F757-260ED07507E0}"/>
              </a:ext>
            </a:extLst>
          </p:cNvPr>
          <p:cNvSpPr txBox="1"/>
          <p:nvPr/>
        </p:nvSpPr>
        <p:spPr>
          <a:xfrm>
            <a:off x="2601883" y="243839"/>
            <a:ext cx="69882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/>
              <a:t>각각의 </a:t>
            </a:r>
            <a:r>
              <a:rPr lang="en-US" altLang="ko-KR" sz="2400" b="1"/>
              <a:t>Feature </a:t>
            </a:r>
            <a:r>
              <a:rPr lang="ko-KR" altLang="en-US" sz="2400" b="1"/>
              <a:t>들과 나이</a:t>
            </a:r>
            <a:r>
              <a:rPr lang="en-US" altLang="ko-KR" sz="2400" b="1"/>
              <a:t>(ring)</a:t>
            </a:r>
            <a:r>
              <a:rPr lang="ko-KR" altLang="en-US" sz="2400" b="1"/>
              <a:t>와의 상관관계 </a:t>
            </a:r>
            <a:endParaRPr lang="en-US" sz="2400" b="1"/>
          </a:p>
        </p:txBody>
      </p:sp>
    </p:spTree>
    <p:extLst>
      <p:ext uri="{BB962C8B-B14F-4D97-AF65-F5344CB8AC3E}">
        <p14:creationId xmlns:p14="http://schemas.microsoft.com/office/powerpoint/2010/main" val="28041533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062C88-E429-67A5-5D81-60C135152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45432"/>
            <a:ext cx="10515600" cy="5631531"/>
          </a:xfrm>
        </p:spPr>
        <p:txBody>
          <a:bodyPr>
            <a:normAutofit fontScale="92500" lnSpcReduction="10000"/>
          </a:bodyPr>
          <a:lstStyle/>
          <a:p>
            <a:r>
              <a:rPr lang="en-US"/>
              <a:t>Tech stack</a:t>
            </a:r>
          </a:p>
          <a:p>
            <a:pPr lvl="1"/>
            <a:r>
              <a:rPr lang="en-US"/>
              <a:t>Python</a:t>
            </a:r>
          </a:p>
          <a:p>
            <a:pPr lvl="1"/>
            <a:r>
              <a:rPr lang="en-US"/>
              <a:t>Keras</a:t>
            </a:r>
          </a:p>
          <a:p>
            <a:pPr lvl="1"/>
            <a:r>
              <a:rPr lang="en-US"/>
              <a:t>Regression</a:t>
            </a:r>
          </a:p>
          <a:p>
            <a:pPr marL="457200" lvl="1" indent="0">
              <a:buNone/>
            </a:pPr>
            <a:endParaRPr lang="en-US"/>
          </a:p>
          <a:p>
            <a:r>
              <a:rPr lang="ko-KR" altLang="en-US"/>
              <a:t>데이터 분류</a:t>
            </a:r>
            <a:endParaRPr lang="en-US"/>
          </a:p>
          <a:p>
            <a:pPr lvl="1"/>
            <a:r>
              <a:rPr lang="en-US"/>
              <a:t>Train data : 2506 </a:t>
            </a:r>
            <a:r>
              <a:rPr lang="ko-KR" altLang="en-US"/>
              <a:t>개 </a:t>
            </a:r>
            <a:r>
              <a:rPr lang="en-US" altLang="ko-KR"/>
              <a:t>( 60%)</a:t>
            </a:r>
          </a:p>
          <a:p>
            <a:pPr lvl="1"/>
            <a:r>
              <a:rPr lang="en-US"/>
              <a:t>Test data : 836 </a:t>
            </a:r>
            <a:r>
              <a:rPr lang="ko-KR" altLang="en-US"/>
              <a:t>개 </a:t>
            </a:r>
            <a:r>
              <a:rPr lang="en-US" altLang="ko-KR"/>
              <a:t>(20%)</a:t>
            </a:r>
          </a:p>
          <a:p>
            <a:pPr lvl="1"/>
            <a:r>
              <a:rPr lang="en-US"/>
              <a:t>Validation data : 835</a:t>
            </a:r>
            <a:r>
              <a:rPr lang="ko-KR" altLang="en-US"/>
              <a:t>개 </a:t>
            </a:r>
            <a:r>
              <a:rPr lang="en-US" altLang="ko-KR"/>
              <a:t>(20%)</a:t>
            </a:r>
          </a:p>
          <a:p>
            <a:pPr lvl="1"/>
            <a:endParaRPr lang="en-US"/>
          </a:p>
          <a:p>
            <a:r>
              <a:rPr lang="en-US"/>
              <a:t>Training</a:t>
            </a:r>
          </a:p>
          <a:p>
            <a:pPr lvl="1"/>
            <a:r>
              <a:rPr lang="en-US"/>
              <a:t>Optimizier : adam</a:t>
            </a:r>
          </a:p>
          <a:p>
            <a:pPr lvl="1"/>
            <a:r>
              <a:rPr lang="en-US"/>
              <a:t>Loss function : mean squared error</a:t>
            </a:r>
          </a:p>
          <a:p>
            <a:pPr lvl="1"/>
            <a:r>
              <a:rPr lang="en-US"/>
              <a:t>Epoch : 100</a:t>
            </a:r>
          </a:p>
          <a:p>
            <a:pPr lvl="1"/>
            <a:r>
              <a:rPr lang="en-US"/>
              <a:t>Batch size :1  </a:t>
            </a:r>
          </a:p>
        </p:txBody>
      </p:sp>
    </p:spTree>
    <p:extLst>
      <p:ext uri="{BB962C8B-B14F-4D97-AF65-F5344CB8AC3E}">
        <p14:creationId xmlns:p14="http://schemas.microsoft.com/office/powerpoint/2010/main" val="8295617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F43F32E-D034-23E6-853D-2FB54A27B8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-13953" y="1158240"/>
            <a:ext cx="9822187" cy="5699760"/>
          </a:xfrm>
          <a:prstGeom prst="rect">
            <a:avLst/>
          </a:prstGeom>
          <a:noFill/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5A2CD60-BA67-934B-B058-7CD7BA5EEA8D}"/>
              </a:ext>
            </a:extLst>
          </p:cNvPr>
          <p:cNvSpPr txBox="1"/>
          <p:nvPr/>
        </p:nvSpPr>
        <p:spPr>
          <a:xfrm>
            <a:off x="8672482" y="1514104"/>
            <a:ext cx="3503353" cy="2154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200"/>
              <a:t>그래프 설명</a:t>
            </a:r>
            <a:endParaRPr lang="en-US" altLang="ko-KR" sz="2200"/>
          </a:p>
          <a:p>
            <a:endParaRPr lang="en-US" altLang="ko-KR" sz="22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/>
              <a:t>X </a:t>
            </a:r>
            <a:r>
              <a:rPr lang="ko-KR" altLang="en-US" sz="1800"/>
              <a:t>축 </a:t>
            </a:r>
            <a:r>
              <a:rPr lang="en-US" altLang="ko-KR" sz="1800"/>
              <a:t>: </a:t>
            </a:r>
            <a:r>
              <a:rPr lang="ko-KR" altLang="en-US" sz="1800"/>
              <a:t>실제 값</a:t>
            </a:r>
            <a:endParaRPr lang="en-US" altLang="ko-KR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/>
              <a:t>Y </a:t>
            </a:r>
            <a:r>
              <a:rPr lang="ko-KR" altLang="en-US" sz="1800"/>
              <a:t>축 </a:t>
            </a:r>
            <a:r>
              <a:rPr lang="en-US" altLang="ko-KR" sz="1800"/>
              <a:t>: </a:t>
            </a:r>
            <a:r>
              <a:rPr lang="ko-KR" altLang="en-US" sz="1800"/>
              <a:t>예측 값</a:t>
            </a:r>
            <a:endParaRPr lang="en-US" altLang="ko-KR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800"/>
              <a:t>y=x </a:t>
            </a:r>
            <a:r>
              <a:rPr lang="ko-KR" altLang="en-US" sz="1800"/>
              <a:t>에 근사할수록 성능이 우수하다고 할수 있다</a:t>
            </a:r>
            <a:endParaRPr lang="en-US" altLang="ko-KR" sz="1800"/>
          </a:p>
          <a:p>
            <a:endParaRPr lang="en-US" altLang="ko-KR" sz="18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CCC74B-E8A0-0910-E93F-195B6835FF70}"/>
              </a:ext>
            </a:extLst>
          </p:cNvPr>
          <p:cNvSpPr txBox="1"/>
          <p:nvPr/>
        </p:nvSpPr>
        <p:spPr>
          <a:xfrm>
            <a:off x="8672482" y="3859205"/>
            <a:ext cx="353568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200"/>
              <a:t> 정확도</a:t>
            </a:r>
            <a:endParaRPr lang="en-US" altLang="ko-KR" sz="2200"/>
          </a:p>
          <a:p>
            <a:endParaRPr lang="en-US" altLang="ko-KR" sz="22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/>
              <a:t>Rmse = 1.78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/>
              <a:t>R2 = 0.56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2F9BC41-CFE1-43F1-07B6-1DD9438495BA}"/>
              </a:ext>
            </a:extLst>
          </p:cNvPr>
          <p:cNvSpPr txBox="1"/>
          <p:nvPr/>
        </p:nvSpPr>
        <p:spPr>
          <a:xfrm>
            <a:off x="4534619" y="277867"/>
            <a:ext cx="31227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800" b="1"/>
              <a:t>결과</a:t>
            </a:r>
            <a:endParaRPr lang="en-US" sz="4800" b="1"/>
          </a:p>
        </p:txBody>
      </p:sp>
    </p:spTree>
    <p:extLst>
      <p:ext uri="{BB962C8B-B14F-4D97-AF65-F5344CB8AC3E}">
        <p14:creationId xmlns:p14="http://schemas.microsoft.com/office/powerpoint/2010/main" val="36513537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8B3F396-0A43-ABB5-8C88-82B7B49786E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62456291"/>
              </p:ext>
            </p:extLst>
          </p:nvPr>
        </p:nvGraphicFramePr>
        <p:xfrm>
          <a:off x="222183" y="968572"/>
          <a:ext cx="8184573" cy="553699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88177">
                  <a:extLst>
                    <a:ext uri="{9D8B030D-6E8A-4147-A177-3AD203B41FA5}">
                      <a16:colId xmlns:a16="http://schemas.microsoft.com/office/drawing/2014/main" val="3253880858"/>
                    </a:ext>
                  </a:extLst>
                </a:gridCol>
                <a:gridCol w="2278772">
                  <a:extLst>
                    <a:ext uri="{9D8B030D-6E8A-4147-A177-3AD203B41FA5}">
                      <a16:colId xmlns:a16="http://schemas.microsoft.com/office/drawing/2014/main" val="1485552645"/>
                    </a:ext>
                  </a:extLst>
                </a:gridCol>
                <a:gridCol w="2129777">
                  <a:extLst>
                    <a:ext uri="{9D8B030D-6E8A-4147-A177-3AD203B41FA5}">
                      <a16:colId xmlns:a16="http://schemas.microsoft.com/office/drawing/2014/main" val="74084000"/>
                    </a:ext>
                  </a:extLst>
                </a:gridCol>
                <a:gridCol w="2387847">
                  <a:extLst>
                    <a:ext uri="{9D8B030D-6E8A-4147-A177-3AD203B41FA5}">
                      <a16:colId xmlns:a16="http://schemas.microsoft.com/office/drawing/2014/main" val="3932574740"/>
                    </a:ext>
                  </a:extLst>
                </a:gridCol>
              </a:tblGrid>
              <a:tr h="29951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 baseline="0">
                          <a:effectLst/>
                        </a:rPr>
                        <a:t> </a:t>
                      </a:r>
                      <a:endParaRPr lang="en-US" sz="1050" baseline="0">
                        <a:solidFill>
                          <a:srgbClr val="595959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6205" marR="5620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aseline="0">
                          <a:effectLst/>
                        </a:rPr>
                        <a:t> basic model</a:t>
                      </a:r>
                      <a:endParaRPr lang="en-US" sz="1050" baseline="0">
                        <a:solidFill>
                          <a:srgbClr val="595959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6205" marR="5620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 baseline="0">
                          <a:effectLst/>
                        </a:rPr>
                        <a:t>many layer model</a:t>
                      </a:r>
                      <a:endParaRPr lang="en-US" sz="1050" baseline="0">
                        <a:solidFill>
                          <a:srgbClr val="595959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6205" marR="5620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 baseline="0">
                          <a:effectLst/>
                        </a:rPr>
                        <a:t> many neuron model</a:t>
                      </a:r>
                      <a:endParaRPr lang="en-US" sz="1050" baseline="0">
                        <a:solidFill>
                          <a:srgbClr val="595959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6205" marR="56205" marT="0" marB="0"/>
                </a:tc>
                <a:extLst>
                  <a:ext uri="{0D108BD9-81ED-4DB2-BD59-A6C34878D82A}">
                    <a16:rowId xmlns:a16="http://schemas.microsoft.com/office/drawing/2014/main" val="702943362"/>
                  </a:ext>
                </a:extLst>
              </a:tr>
              <a:tr h="331533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 baseline="0">
                          <a:effectLst/>
                        </a:rPr>
                        <a:t> 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 baseline="0">
                          <a:effectLst/>
                        </a:rPr>
                        <a:t> 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 baseline="0">
                          <a:effectLst/>
                        </a:rPr>
                        <a:t> 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 baseline="0">
                          <a:effectLst/>
                        </a:rPr>
                        <a:t> 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 baseline="0">
                          <a:effectLst/>
                        </a:rPr>
                        <a:t> 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 baseline="0">
                          <a:effectLst/>
                        </a:rPr>
                        <a:t> 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 baseline="0">
                          <a:effectLst/>
                        </a:rPr>
                        <a:t> 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 baseline="0">
                          <a:effectLst/>
                        </a:rPr>
                        <a:t> 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 baseline="0">
                          <a:effectLst/>
                        </a:rPr>
                        <a:t>Layer construction</a:t>
                      </a:r>
                      <a:endParaRPr lang="en-US" sz="1050" baseline="0">
                        <a:solidFill>
                          <a:srgbClr val="595959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6205" marR="56205" marT="0" marB="0"/>
                </a:tc>
                <a:tc>
                  <a:txBody>
                    <a:bodyPr/>
                    <a:lstStyle/>
                    <a:p>
                      <a:pPr marL="22860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 baseline="0">
                          <a:effectLst/>
                        </a:rPr>
                        <a:t> 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 baseline="0">
                          <a:effectLst/>
                        </a:rPr>
                        <a:t>(Input layer)  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 baseline="0">
                          <a:effectLst/>
                        </a:rPr>
                        <a:t>node </a:t>
                      </a:r>
                      <a:r>
                        <a:rPr lang="ko-KR" sz="1050" baseline="0">
                          <a:effectLst/>
                        </a:rPr>
                        <a:t>개수 </a:t>
                      </a:r>
                      <a:r>
                        <a:rPr lang="en-US" sz="1050" baseline="0">
                          <a:effectLst/>
                        </a:rPr>
                        <a:t>= 64</a:t>
                      </a:r>
                      <a:r>
                        <a:rPr lang="ko-KR" sz="1050" baseline="0">
                          <a:effectLst/>
                        </a:rPr>
                        <a:t>개</a:t>
                      </a:r>
                      <a:endParaRPr lang="en-US" sz="1050" baseline="0">
                        <a:effectLst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 baseline="0">
                          <a:effectLst/>
                        </a:rPr>
                        <a:t>activation fuction = relu</a:t>
                      </a:r>
                    </a:p>
                    <a:p>
                      <a:pPr marL="22860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 baseline="0">
                          <a:effectLst/>
                        </a:rPr>
                        <a:t> 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 baseline="0">
                          <a:effectLst/>
                        </a:rPr>
                        <a:t>(Hidden layer)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 baseline="0">
                          <a:effectLst/>
                        </a:rPr>
                        <a:t>Layer </a:t>
                      </a:r>
                      <a:r>
                        <a:rPr lang="ko-KR" sz="1050" baseline="0">
                          <a:effectLst/>
                        </a:rPr>
                        <a:t>개수</a:t>
                      </a:r>
                      <a:r>
                        <a:rPr lang="en-US" sz="1050" baseline="0">
                          <a:effectLst/>
                        </a:rPr>
                        <a:t>= 4</a:t>
                      </a:r>
                      <a:r>
                        <a:rPr lang="ko-KR" sz="1050" baseline="0">
                          <a:effectLst/>
                        </a:rPr>
                        <a:t>개</a:t>
                      </a:r>
                      <a:endParaRPr lang="en-US" sz="1050" baseline="0">
                        <a:effectLst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 baseline="0">
                          <a:effectLst/>
                        </a:rPr>
                        <a:t>node </a:t>
                      </a:r>
                      <a:r>
                        <a:rPr lang="ko-KR" sz="1050" baseline="0">
                          <a:effectLst/>
                        </a:rPr>
                        <a:t>개수 </a:t>
                      </a:r>
                      <a:r>
                        <a:rPr lang="en-US" sz="1050" baseline="0">
                          <a:effectLst/>
                        </a:rPr>
                        <a:t>= 32</a:t>
                      </a:r>
                      <a:r>
                        <a:rPr lang="ko-KR" sz="1050" baseline="0">
                          <a:effectLst/>
                        </a:rPr>
                        <a:t>개 </a:t>
                      </a:r>
                      <a:endParaRPr lang="en-US" sz="1050" baseline="0">
                        <a:effectLst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 baseline="0">
                          <a:effectLst/>
                        </a:rPr>
                        <a:t>activation fuction = relu</a:t>
                      </a:r>
                    </a:p>
                    <a:p>
                      <a:pPr marL="22860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 baseline="0">
                          <a:effectLst/>
                        </a:rPr>
                        <a:t> 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 baseline="0">
                          <a:effectLst/>
                        </a:rPr>
                        <a:t>(Output layer)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 baseline="0">
                          <a:effectLst/>
                        </a:rPr>
                        <a:t>node </a:t>
                      </a:r>
                      <a:r>
                        <a:rPr lang="ko-KR" sz="1050" baseline="0">
                          <a:effectLst/>
                        </a:rPr>
                        <a:t>개수 </a:t>
                      </a:r>
                      <a:r>
                        <a:rPr lang="en-US" sz="1050" baseline="0">
                          <a:effectLst/>
                        </a:rPr>
                        <a:t>=1</a:t>
                      </a:r>
                      <a:r>
                        <a:rPr lang="ko-KR" sz="1050" baseline="0">
                          <a:effectLst/>
                        </a:rPr>
                        <a:t>개</a:t>
                      </a:r>
                      <a:endParaRPr lang="en-US" sz="1050" baseline="0">
                        <a:effectLst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 baseline="0">
                          <a:effectLst/>
                        </a:rPr>
                        <a:t> 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 baseline="0">
                          <a:effectLst/>
                        </a:rPr>
                        <a:t> 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 baseline="0">
                          <a:effectLst/>
                        </a:rPr>
                        <a:t> 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 baseline="0">
                          <a:effectLst/>
                        </a:rPr>
                        <a:t> </a:t>
                      </a:r>
                      <a:endParaRPr lang="en-US" sz="1050" baseline="0">
                        <a:solidFill>
                          <a:srgbClr val="595959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6205" marR="56205" marT="0" marB="0"/>
                </a:tc>
                <a:tc>
                  <a:txBody>
                    <a:bodyPr/>
                    <a:lstStyle/>
                    <a:p>
                      <a:pPr marL="22860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 baseline="0">
                          <a:effectLst/>
                        </a:rPr>
                        <a:t> 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 baseline="0">
                          <a:effectLst/>
                        </a:rPr>
                        <a:t>(Input layer)  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 baseline="0">
                          <a:effectLst/>
                        </a:rPr>
                        <a:t>node </a:t>
                      </a:r>
                      <a:r>
                        <a:rPr lang="ko-KR" sz="1050" baseline="0">
                          <a:effectLst/>
                        </a:rPr>
                        <a:t>개수 </a:t>
                      </a:r>
                      <a:r>
                        <a:rPr lang="en-US" sz="1050" baseline="0">
                          <a:effectLst/>
                        </a:rPr>
                        <a:t>= 64</a:t>
                      </a:r>
                      <a:r>
                        <a:rPr lang="ko-KR" sz="1050" baseline="0">
                          <a:effectLst/>
                        </a:rPr>
                        <a:t>개</a:t>
                      </a:r>
                      <a:endParaRPr lang="en-US" sz="1050" baseline="0">
                        <a:effectLst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 baseline="0">
                          <a:effectLst/>
                        </a:rPr>
                        <a:t>activation fuction = relu</a:t>
                      </a:r>
                    </a:p>
                    <a:p>
                      <a:pPr marL="22860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 baseline="0">
                          <a:effectLst/>
                        </a:rPr>
                        <a:t> 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 baseline="0">
                          <a:effectLst/>
                        </a:rPr>
                        <a:t>(Hidden layer)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 baseline="0">
                          <a:effectLst/>
                        </a:rPr>
                        <a:t>Layer </a:t>
                      </a:r>
                      <a:r>
                        <a:rPr lang="ko-KR" sz="1050" baseline="0">
                          <a:effectLst/>
                        </a:rPr>
                        <a:t>개수</a:t>
                      </a:r>
                      <a:r>
                        <a:rPr lang="en-US" sz="1050" baseline="0">
                          <a:effectLst/>
                        </a:rPr>
                        <a:t>= 20</a:t>
                      </a:r>
                      <a:r>
                        <a:rPr lang="ko-KR" sz="1050" baseline="0">
                          <a:effectLst/>
                        </a:rPr>
                        <a:t>개</a:t>
                      </a:r>
                      <a:endParaRPr lang="en-US" sz="1050" baseline="0">
                        <a:effectLst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 baseline="0">
                          <a:effectLst/>
                        </a:rPr>
                        <a:t>node </a:t>
                      </a:r>
                      <a:r>
                        <a:rPr lang="ko-KR" sz="1050" baseline="0">
                          <a:effectLst/>
                        </a:rPr>
                        <a:t>개수 </a:t>
                      </a:r>
                      <a:r>
                        <a:rPr lang="en-US" sz="1050" baseline="0">
                          <a:effectLst/>
                        </a:rPr>
                        <a:t>= 32</a:t>
                      </a:r>
                      <a:r>
                        <a:rPr lang="ko-KR" sz="1050" baseline="0">
                          <a:effectLst/>
                        </a:rPr>
                        <a:t>개 </a:t>
                      </a:r>
                      <a:endParaRPr lang="en-US" sz="1050" baseline="0">
                        <a:effectLst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 baseline="0">
                          <a:effectLst/>
                        </a:rPr>
                        <a:t>activation fuction = relu</a:t>
                      </a:r>
                    </a:p>
                    <a:p>
                      <a:pPr marL="22860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 baseline="0">
                          <a:effectLst/>
                        </a:rPr>
                        <a:t> 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 baseline="0">
                          <a:effectLst/>
                        </a:rPr>
                        <a:t>(Output layer)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 baseline="0">
                          <a:effectLst/>
                        </a:rPr>
                        <a:t>node </a:t>
                      </a:r>
                      <a:r>
                        <a:rPr lang="ko-KR" sz="1050" baseline="0">
                          <a:effectLst/>
                        </a:rPr>
                        <a:t>개수 </a:t>
                      </a:r>
                      <a:r>
                        <a:rPr lang="en-US" sz="1050" baseline="0">
                          <a:effectLst/>
                        </a:rPr>
                        <a:t>=1</a:t>
                      </a:r>
                      <a:r>
                        <a:rPr lang="ko-KR" sz="1050" baseline="0">
                          <a:effectLst/>
                        </a:rPr>
                        <a:t>개</a:t>
                      </a:r>
                      <a:endParaRPr lang="en-US" sz="1050" baseline="0">
                        <a:effectLst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 baseline="0">
                          <a:effectLst/>
                        </a:rPr>
                        <a:t> </a:t>
                      </a:r>
                      <a:endParaRPr lang="en-US" sz="1050" baseline="0">
                        <a:solidFill>
                          <a:srgbClr val="595959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6205" marR="56205" marT="0" marB="0"/>
                </a:tc>
                <a:tc>
                  <a:txBody>
                    <a:bodyPr/>
                    <a:lstStyle/>
                    <a:p>
                      <a:pPr marL="22860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 baseline="0">
                          <a:effectLst/>
                        </a:rPr>
                        <a:t> 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 baseline="0">
                          <a:effectLst/>
                        </a:rPr>
                        <a:t>(Input layer)  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 baseline="0">
                          <a:effectLst/>
                        </a:rPr>
                        <a:t>node </a:t>
                      </a:r>
                      <a:r>
                        <a:rPr lang="ko-KR" sz="1050" baseline="0">
                          <a:effectLst/>
                        </a:rPr>
                        <a:t>개수 </a:t>
                      </a:r>
                      <a:r>
                        <a:rPr lang="en-US" sz="1050" baseline="0">
                          <a:effectLst/>
                        </a:rPr>
                        <a:t>= 128</a:t>
                      </a:r>
                      <a:r>
                        <a:rPr lang="ko-KR" sz="1050" baseline="0">
                          <a:effectLst/>
                        </a:rPr>
                        <a:t>개</a:t>
                      </a:r>
                      <a:endParaRPr lang="en-US" sz="1050" baseline="0">
                        <a:effectLst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 baseline="0">
                          <a:effectLst/>
                        </a:rPr>
                        <a:t>activation fuction = relu</a:t>
                      </a:r>
                    </a:p>
                    <a:p>
                      <a:pPr marL="22860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 baseline="0">
                          <a:effectLst/>
                        </a:rPr>
                        <a:t> 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 baseline="0">
                          <a:effectLst/>
                        </a:rPr>
                        <a:t>(Hidden layer)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 baseline="0">
                          <a:effectLst/>
                        </a:rPr>
                        <a:t>Layer </a:t>
                      </a:r>
                      <a:r>
                        <a:rPr lang="ko-KR" sz="1050" baseline="0">
                          <a:effectLst/>
                        </a:rPr>
                        <a:t>개수</a:t>
                      </a:r>
                      <a:r>
                        <a:rPr lang="en-US" sz="1050" baseline="0">
                          <a:effectLst/>
                        </a:rPr>
                        <a:t>= 4</a:t>
                      </a:r>
                      <a:r>
                        <a:rPr lang="ko-KR" sz="1050" baseline="0">
                          <a:effectLst/>
                        </a:rPr>
                        <a:t>개</a:t>
                      </a:r>
                      <a:endParaRPr lang="en-US" sz="1050" baseline="0">
                        <a:effectLst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 baseline="0">
                          <a:effectLst/>
                        </a:rPr>
                        <a:t>node </a:t>
                      </a:r>
                      <a:r>
                        <a:rPr lang="ko-KR" sz="1050" baseline="0">
                          <a:effectLst/>
                        </a:rPr>
                        <a:t>개수 </a:t>
                      </a:r>
                      <a:r>
                        <a:rPr lang="en-US" sz="1050" baseline="0">
                          <a:effectLst/>
                        </a:rPr>
                        <a:t>= 64</a:t>
                      </a:r>
                      <a:r>
                        <a:rPr lang="ko-KR" sz="1050" baseline="0">
                          <a:effectLst/>
                        </a:rPr>
                        <a:t>개 </a:t>
                      </a:r>
                      <a:endParaRPr lang="en-US" sz="1050" baseline="0">
                        <a:effectLst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 baseline="0">
                          <a:effectLst/>
                        </a:rPr>
                        <a:t>activation fuction = relu</a:t>
                      </a:r>
                    </a:p>
                    <a:p>
                      <a:pPr marL="22860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 baseline="0">
                          <a:effectLst/>
                        </a:rPr>
                        <a:t> 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 baseline="0">
                          <a:effectLst/>
                        </a:rPr>
                        <a:t>(Output layer)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 baseline="0">
                          <a:effectLst/>
                        </a:rPr>
                        <a:t>node </a:t>
                      </a:r>
                      <a:r>
                        <a:rPr lang="ko-KR" sz="1050" baseline="0">
                          <a:effectLst/>
                        </a:rPr>
                        <a:t>개수 </a:t>
                      </a:r>
                      <a:r>
                        <a:rPr lang="en-US" sz="1050" baseline="0">
                          <a:effectLst/>
                        </a:rPr>
                        <a:t>=1</a:t>
                      </a:r>
                      <a:r>
                        <a:rPr lang="ko-KR" sz="1050" baseline="0">
                          <a:effectLst/>
                        </a:rPr>
                        <a:t>개</a:t>
                      </a:r>
                      <a:endParaRPr lang="en-US" sz="1050" baseline="0">
                        <a:effectLst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 baseline="0">
                          <a:effectLst/>
                        </a:rPr>
                        <a:t> 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 baseline="0">
                          <a:effectLst/>
                        </a:rPr>
                        <a:t> </a:t>
                      </a:r>
                      <a:endParaRPr lang="en-US" sz="1050" baseline="0">
                        <a:solidFill>
                          <a:srgbClr val="595959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6205" marR="56205" marT="0" marB="0"/>
                </a:tc>
                <a:extLst>
                  <a:ext uri="{0D108BD9-81ED-4DB2-BD59-A6C34878D82A}">
                    <a16:rowId xmlns:a16="http://schemas.microsoft.com/office/drawing/2014/main" val="2050954183"/>
                  </a:ext>
                </a:extLst>
              </a:tr>
              <a:tr h="76501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 baseline="0">
                          <a:effectLst/>
                        </a:rPr>
                        <a:t> 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 baseline="0">
                          <a:effectLst/>
                        </a:rPr>
                        <a:t>performance</a:t>
                      </a:r>
                      <a:endParaRPr lang="en-US" sz="1050" baseline="0">
                        <a:solidFill>
                          <a:srgbClr val="595959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6205" marR="5620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 baseline="0">
                          <a:effectLst/>
                        </a:rPr>
                        <a:t> 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 baseline="0">
                          <a:effectLst/>
                        </a:rPr>
                        <a:t>Rmse = 1.78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 baseline="0">
                          <a:effectLst/>
                        </a:rPr>
                        <a:t>R2=0.56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 baseline="0">
                          <a:effectLst/>
                        </a:rPr>
                        <a:t> </a:t>
                      </a:r>
                      <a:endParaRPr lang="en-US" sz="1050" baseline="0">
                        <a:solidFill>
                          <a:srgbClr val="595959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6205" marR="5620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 baseline="0">
                          <a:effectLst/>
                        </a:rPr>
                        <a:t> 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 baseline="0">
                          <a:effectLst/>
                        </a:rPr>
                        <a:t>RMSE=2.00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 baseline="0">
                          <a:effectLst/>
                        </a:rPr>
                        <a:t>R2=0.44</a:t>
                      </a:r>
                      <a:endParaRPr lang="en-US" sz="1050" baseline="0">
                        <a:solidFill>
                          <a:srgbClr val="595959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6205" marR="5620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 baseline="0">
                          <a:effectLst/>
                        </a:rPr>
                        <a:t> 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 baseline="0">
                          <a:effectLst/>
                        </a:rPr>
                        <a:t>RMSE = 2.16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 baseline="0">
                          <a:effectLst/>
                        </a:rPr>
                        <a:t>R2 = 0.35</a:t>
                      </a:r>
                      <a:endParaRPr lang="en-US" sz="1050" baseline="0">
                        <a:solidFill>
                          <a:srgbClr val="595959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56205" marR="56205" marT="0" marB="0"/>
                </a:tc>
                <a:extLst>
                  <a:ext uri="{0D108BD9-81ED-4DB2-BD59-A6C34878D82A}">
                    <a16:rowId xmlns:a16="http://schemas.microsoft.com/office/drawing/2014/main" val="355911443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DD3ECA0-2CA8-5381-401C-F838DBBEB2AB}"/>
              </a:ext>
            </a:extLst>
          </p:cNvPr>
          <p:cNvSpPr txBox="1"/>
          <p:nvPr/>
        </p:nvSpPr>
        <p:spPr>
          <a:xfrm>
            <a:off x="8615680" y="3244333"/>
            <a:ext cx="3576320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/>
              <a:t>실험 과정</a:t>
            </a:r>
            <a:endParaRPr lang="en-US" altLang="ko-KR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/>
              <a:t>Layer </a:t>
            </a:r>
            <a:r>
              <a:rPr lang="ko-KR" altLang="en-US"/>
              <a:t>개수를 늘리거나 </a:t>
            </a:r>
            <a:r>
              <a:rPr lang="en-US" altLang="ko-KR"/>
              <a:t>neuron </a:t>
            </a:r>
            <a:r>
              <a:rPr lang="ko-KR" altLang="en-US"/>
              <a:t>개수를 늘려서 정확도 비교</a:t>
            </a:r>
            <a:endParaRPr lang="en-US" altLang="ko-KR"/>
          </a:p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AE17FA-02F9-CF23-735E-4EB6A0951DDC}"/>
              </a:ext>
            </a:extLst>
          </p:cNvPr>
          <p:cNvSpPr txBox="1"/>
          <p:nvPr/>
        </p:nvSpPr>
        <p:spPr>
          <a:xfrm>
            <a:off x="8615680" y="4782276"/>
            <a:ext cx="3576320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/>
              <a:t>실험 결과</a:t>
            </a:r>
            <a:endParaRPr lang="en-US" altLang="ko-KR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/>
              <a:t>Layer </a:t>
            </a:r>
            <a:r>
              <a:rPr lang="ko-KR" altLang="en-US"/>
              <a:t>개수를 늘리거나 </a:t>
            </a:r>
            <a:r>
              <a:rPr lang="en-US" altLang="ko-KR"/>
              <a:t>neuron </a:t>
            </a:r>
            <a:r>
              <a:rPr lang="ko-KR" altLang="en-US"/>
              <a:t>개수를 늘렸을때 오히려 정확도가 떨어졌다</a:t>
            </a:r>
            <a:endParaRPr lang="en-US" altLang="ko-K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5C39C3-C962-13A5-1071-BC9C3C1C4F51}"/>
              </a:ext>
            </a:extLst>
          </p:cNvPr>
          <p:cNvSpPr txBox="1"/>
          <p:nvPr/>
        </p:nvSpPr>
        <p:spPr>
          <a:xfrm>
            <a:off x="8615680" y="1429393"/>
            <a:ext cx="357632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/>
              <a:t>가설</a:t>
            </a:r>
            <a:endParaRPr lang="en-US" altLang="ko-KR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/>
              <a:t>Layer </a:t>
            </a:r>
            <a:r>
              <a:rPr lang="ko-KR" altLang="en-US"/>
              <a:t>개수를 늘리거나 </a:t>
            </a:r>
            <a:r>
              <a:rPr lang="en-US" altLang="ko-KR"/>
              <a:t>neuron </a:t>
            </a:r>
            <a:r>
              <a:rPr lang="ko-KR" altLang="en-US"/>
              <a:t>개수를 늘리면 정확도가 향상될 것이다</a:t>
            </a:r>
            <a:endParaRPr lang="en-US" altLang="ko-KR"/>
          </a:p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F2BFD3A-1E54-72C7-FC35-A9B6FC2B6DCB}"/>
              </a:ext>
            </a:extLst>
          </p:cNvPr>
          <p:cNvSpPr txBox="1"/>
          <p:nvPr/>
        </p:nvSpPr>
        <p:spPr>
          <a:xfrm>
            <a:off x="4754592" y="128011"/>
            <a:ext cx="268281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400" b="1"/>
              <a:t>실험</a:t>
            </a:r>
            <a:endParaRPr lang="en-US" sz="4400" b="1"/>
          </a:p>
        </p:txBody>
      </p:sp>
    </p:spTree>
    <p:extLst>
      <p:ext uri="{BB962C8B-B14F-4D97-AF65-F5344CB8AC3E}">
        <p14:creationId xmlns:p14="http://schemas.microsoft.com/office/powerpoint/2010/main" val="27741032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44D27-81E2-76A6-1851-9BF37D4B5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4. Chatting server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C15562-01ED-B3ED-C2B9-F271D16EBD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Tech stack</a:t>
            </a:r>
          </a:p>
          <a:p>
            <a:pPr lvl="1"/>
            <a:r>
              <a:rPr lang="en-US"/>
              <a:t>C</a:t>
            </a:r>
            <a:r>
              <a:rPr lang="ko-KR" altLang="en-US"/>
              <a:t>언어</a:t>
            </a:r>
            <a:endParaRPr lang="en-US" altLang="ko-KR"/>
          </a:p>
          <a:p>
            <a:pPr lvl="1"/>
            <a:r>
              <a:rPr lang="ko-KR" altLang="en-US"/>
              <a:t>일대 다 통신</a:t>
            </a:r>
            <a:endParaRPr lang="en-US" altLang="ko-KR"/>
          </a:p>
          <a:p>
            <a:pPr lvl="2"/>
            <a:r>
              <a:rPr lang="en-US"/>
              <a:t>epoll</a:t>
            </a:r>
          </a:p>
          <a:p>
            <a:pPr lvl="1"/>
            <a:r>
              <a:rPr lang="ko-KR" altLang="en-US"/>
              <a:t>비동기식 통신</a:t>
            </a:r>
            <a:endParaRPr lang="en-US" altLang="ko-KR"/>
          </a:p>
          <a:p>
            <a:pPr lvl="1"/>
            <a:r>
              <a:rPr lang="ko-KR" altLang="en-US"/>
              <a:t>소켓 통신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230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001E8-8421-988D-6E67-509693199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5. Android App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8E313A-00F7-0726-AC0A-1718BEC466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설명</a:t>
            </a:r>
            <a:endParaRPr lang="en-US" altLang="ko-KR"/>
          </a:p>
          <a:p>
            <a:pPr lvl="1"/>
            <a:r>
              <a:rPr lang="ko-KR" altLang="en-US"/>
              <a:t>구간 안에 있는 소수의 비율을 그래프로 그려주는 어플</a:t>
            </a:r>
            <a:endParaRPr lang="en-US" altLang="ko-KR"/>
          </a:p>
          <a:p>
            <a:pPr lvl="1"/>
            <a:r>
              <a:rPr lang="ko-KR" altLang="en-US"/>
              <a:t>첫번째 입력값 </a:t>
            </a:r>
            <a:r>
              <a:rPr lang="en-US" altLang="ko-KR"/>
              <a:t>: </a:t>
            </a:r>
            <a:r>
              <a:rPr lang="ko-KR" altLang="en-US"/>
              <a:t>구간 길이</a:t>
            </a:r>
            <a:endParaRPr lang="en-US" altLang="ko-KR"/>
          </a:p>
          <a:p>
            <a:pPr lvl="1"/>
            <a:r>
              <a:rPr lang="ko-KR" altLang="en-US"/>
              <a:t>두번째 입력값 </a:t>
            </a:r>
            <a:r>
              <a:rPr lang="en-US" altLang="ko-KR"/>
              <a:t>: </a:t>
            </a:r>
            <a:r>
              <a:rPr lang="ko-KR" altLang="en-US"/>
              <a:t>그래프 점의 개수</a:t>
            </a:r>
            <a:endParaRPr lang="en-US" altLang="ko-KR"/>
          </a:p>
          <a:p>
            <a:pPr lvl="1"/>
            <a:r>
              <a:rPr lang="en-US" altLang="ko-KR"/>
              <a:t>X </a:t>
            </a:r>
            <a:r>
              <a:rPr lang="ko-KR" altLang="en-US"/>
              <a:t>축 </a:t>
            </a:r>
            <a:r>
              <a:rPr lang="en-US" altLang="ko-KR"/>
              <a:t>: </a:t>
            </a:r>
            <a:r>
              <a:rPr lang="ko-KR" altLang="en-US"/>
              <a:t>수의 범위</a:t>
            </a:r>
            <a:endParaRPr lang="en-US" altLang="ko-KR"/>
          </a:p>
          <a:p>
            <a:pPr lvl="1"/>
            <a:r>
              <a:rPr lang="en-US" altLang="ko-KR"/>
              <a:t>Y </a:t>
            </a:r>
            <a:r>
              <a:rPr lang="ko-KR" altLang="en-US"/>
              <a:t>축 </a:t>
            </a:r>
            <a:r>
              <a:rPr lang="en-US" altLang="ko-KR"/>
              <a:t>: </a:t>
            </a:r>
            <a:r>
              <a:rPr lang="ko-KR" altLang="en-US"/>
              <a:t>소수의 비율</a:t>
            </a:r>
            <a:r>
              <a:rPr lang="en-US" altLang="ko-KR"/>
              <a:t> </a:t>
            </a:r>
          </a:p>
          <a:p>
            <a:pPr lvl="1"/>
            <a:endParaRPr lang="en-US" altLang="ko-KR"/>
          </a:p>
          <a:p>
            <a:r>
              <a:rPr lang="en-US" altLang="ko-KR"/>
              <a:t>Tech stack</a:t>
            </a:r>
          </a:p>
          <a:p>
            <a:pPr lvl="1"/>
            <a:r>
              <a:rPr lang="en-US" altLang="ko-KR"/>
              <a:t>Java</a:t>
            </a:r>
          </a:p>
          <a:p>
            <a:pPr lvl="1"/>
            <a:r>
              <a:rPr lang="en-US" altLang="ko-KR"/>
              <a:t>Android studio</a:t>
            </a:r>
          </a:p>
        </p:txBody>
      </p:sp>
    </p:spTree>
    <p:extLst>
      <p:ext uri="{BB962C8B-B14F-4D97-AF65-F5344CB8AC3E}">
        <p14:creationId xmlns:p14="http://schemas.microsoft.com/office/powerpoint/2010/main" val="302635209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670F110-CAED-ECD8-7B8F-7D67D75DED75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280400" y="1056640"/>
            <a:ext cx="3911600" cy="424656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ko-KR" altLang="en-US" sz="4000" b="1"/>
              <a:t>예시</a:t>
            </a:r>
            <a:endParaRPr lang="en-US" altLang="ko-KR" sz="4000" b="1"/>
          </a:p>
          <a:p>
            <a:pPr marL="0" indent="0" algn="ctr">
              <a:buNone/>
            </a:pPr>
            <a:endParaRPr lang="en-US" altLang="ko-KR" sz="2000"/>
          </a:p>
          <a:p>
            <a:r>
              <a:rPr lang="ko-KR" altLang="en-US" sz="2000"/>
              <a:t>입력값</a:t>
            </a:r>
            <a:endParaRPr lang="en-US" altLang="ko-KR" sz="2000"/>
          </a:p>
          <a:p>
            <a:pPr lvl="1"/>
            <a:r>
              <a:rPr lang="ko-KR" altLang="en-US" sz="1600"/>
              <a:t>첫번째 </a:t>
            </a:r>
            <a:r>
              <a:rPr lang="en-US" altLang="ko-KR" sz="1600"/>
              <a:t>: 10</a:t>
            </a:r>
          </a:p>
          <a:p>
            <a:pPr lvl="1"/>
            <a:r>
              <a:rPr lang="ko-KR" altLang="en-US" sz="1600"/>
              <a:t>두번째  </a:t>
            </a:r>
            <a:r>
              <a:rPr lang="en-US" altLang="ko-KR" sz="1600"/>
              <a:t>: 10</a:t>
            </a:r>
          </a:p>
          <a:p>
            <a:pPr lvl="1"/>
            <a:endParaRPr lang="en-US" altLang="ko-KR" sz="1600"/>
          </a:p>
          <a:p>
            <a:r>
              <a:rPr lang="ko-KR" altLang="en-US" sz="2000"/>
              <a:t>결과 해석</a:t>
            </a:r>
            <a:endParaRPr lang="en-US" altLang="ko-KR" sz="2000"/>
          </a:p>
          <a:p>
            <a:pPr lvl="1"/>
            <a:r>
              <a:rPr lang="ko-KR" altLang="en-US" sz="1600"/>
              <a:t>점 </a:t>
            </a:r>
            <a:r>
              <a:rPr lang="en-US" altLang="ko-KR" sz="1600"/>
              <a:t>(10,40) : 1~10 </a:t>
            </a:r>
            <a:r>
              <a:rPr lang="ko-KR" altLang="en-US" sz="1600"/>
              <a:t>사이에 소수 </a:t>
            </a:r>
            <a:r>
              <a:rPr lang="en-US" altLang="ko-KR" sz="1600"/>
              <a:t>4</a:t>
            </a:r>
            <a:r>
              <a:rPr lang="ko-KR" altLang="en-US" sz="1600"/>
              <a:t>개</a:t>
            </a:r>
            <a:endParaRPr lang="en-US" altLang="ko-KR" sz="1600"/>
          </a:p>
          <a:p>
            <a:pPr lvl="1"/>
            <a:r>
              <a:rPr lang="ko-KR" altLang="en-US" sz="1600"/>
              <a:t>점 </a:t>
            </a:r>
            <a:r>
              <a:rPr lang="en-US" altLang="ko-KR" sz="1600"/>
              <a:t>(20,40) : 11~20 </a:t>
            </a:r>
            <a:r>
              <a:rPr lang="ko-KR" altLang="en-US" sz="1600"/>
              <a:t>사이에 소수 </a:t>
            </a:r>
            <a:r>
              <a:rPr lang="en-US" altLang="ko-KR" sz="1600"/>
              <a:t>4</a:t>
            </a:r>
            <a:r>
              <a:rPr lang="ko-KR" altLang="en-US" sz="1600"/>
              <a:t>개</a:t>
            </a:r>
            <a:endParaRPr lang="en-US" altLang="ko-KR" sz="1600"/>
          </a:p>
          <a:p>
            <a:pPr marL="0" indent="0">
              <a:buNone/>
            </a:pPr>
            <a:endParaRPr lang="en-US" sz="2000"/>
          </a:p>
        </p:txBody>
      </p:sp>
      <p:pic>
        <p:nvPicPr>
          <p:cNvPr id="4" name="Content Placeholder 3" descr="Chart, line chart&#10;&#10;Description automatically generated">
            <a:extLst>
              <a:ext uri="{FF2B5EF4-FFF2-40B4-BE49-F238E27FC236}">
                <a16:creationId xmlns:a16="http://schemas.microsoft.com/office/drawing/2014/main" id="{C8537918-E93C-46AD-8DE1-E4160CA9F44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74452" y="362308"/>
            <a:ext cx="7479103" cy="621101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53362395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8509FE30-F838-A79A-6D8E-E183D9A4284B}"/>
              </a:ext>
            </a:extLst>
          </p:cNvPr>
          <p:cNvGrpSpPr/>
          <p:nvPr/>
        </p:nvGrpSpPr>
        <p:grpSpPr>
          <a:xfrm>
            <a:off x="336430" y="310551"/>
            <a:ext cx="11490385" cy="6262778"/>
            <a:chOff x="0" y="0"/>
            <a:chExt cx="10428605" cy="518160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5F1B5CED-29E8-5D98-1051-C6CA61F27A1C}"/>
                </a:ext>
              </a:extLst>
            </p:cNvPr>
            <p:cNvPicPr/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19477" y="0"/>
              <a:ext cx="3087368" cy="518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4378CA3D-50AD-0244-E560-4CBC1B13BF5D}"/>
                </a:ext>
              </a:extLst>
            </p:cNvPr>
            <p:cNvPicPr/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2799715" cy="4978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5F1D68FE-2B2E-EE9F-6361-FB9489244648}"/>
                </a:ext>
              </a:extLst>
            </p:cNvPr>
            <p:cNvPicPr/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45324" y="0"/>
              <a:ext cx="3383281" cy="5181600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29380015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4343F-DE84-0DE7-0228-588CAD1C0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55675"/>
          </a:xfrm>
        </p:spPr>
        <p:txBody>
          <a:bodyPr/>
          <a:lstStyle/>
          <a:p>
            <a:pPr algn="ctr"/>
            <a:r>
              <a:rPr lang="en-US" altLang="ko-KR"/>
              <a:t>6. </a:t>
            </a:r>
            <a:r>
              <a:rPr lang="ko-KR" altLang="en-US"/>
              <a:t>모자이크</a:t>
            </a:r>
            <a:r>
              <a:rPr lang="en-US" altLang="ko-KR"/>
              <a:t>( python )</a:t>
            </a: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E4043B3-C15C-9596-1BD9-93FEFABA03D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748" y="1551709"/>
            <a:ext cx="5352415" cy="4941166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8B9CE30-512E-AEE9-5899-FA69C3BE97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3837" y="1551709"/>
            <a:ext cx="5352415" cy="494116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244056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522</TotalTime>
  <Words>702</Words>
  <Application>Microsoft Office PowerPoint</Application>
  <PresentationFormat>Widescreen</PresentationFormat>
  <Paragraphs>235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Arial</vt:lpstr>
      <vt:lpstr>Calibri</vt:lpstr>
      <vt:lpstr>Calibri Light</vt:lpstr>
      <vt:lpstr>Office Theme</vt:lpstr>
      <vt:lpstr>개인 프로젝트</vt:lpstr>
      <vt:lpstr>Development skill</vt:lpstr>
      <vt:lpstr>Favorites</vt:lpstr>
      <vt:lpstr>github</vt:lpstr>
      <vt:lpstr>프로젝트 목차</vt:lpstr>
      <vt:lpstr>1. Web</vt:lpstr>
      <vt:lpstr>2. 영상 처리 </vt:lpstr>
      <vt:lpstr>2-1. Histogram Viewer</vt:lpstr>
      <vt:lpstr>PowerPoint Presentation</vt:lpstr>
      <vt:lpstr>PowerPoint Presentation</vt:lpstr>
      <vt:lpstr>2-2. Edge Detection Viewer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2-2. 의료영상 Viewer</vt:lpstr>
      <vt:lpstr>PowerPoint Presentation</vt:lpstr>
      <vt:lpstr>PowerPoint Presentation</vt:lpstr>
      <vt:lpstr>PowerPoint Presentation</vt:lpstr>
      <vt:lpstr>3. AI</vt:lpstr>
      <vt:lpstr>PowerPoint Presentation</vt:lpstr>
      <vt:lpstr>PowerPoint Presentation</vt:lpstr>
      <vt:lpstr>PowerPoint Presentation</vt:lpstr>
      <vt:lpstr>PowerPoint Presentation</vt:lpstr>
      <vt:lpstr>4. Chatting server</vt:lpstr>
      <vt:lpstr>5. Android App</vt:lpstr>
      <vt:lpstr>PowerPoint Presentation</vt:lpstr>
      <vt:lpstr>PowerPoint Presentation</vt:lpstr>
      <vt:lpstr>6. 모자이크( python 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개인 프로젝트</dc:title>
  <dc:creator>young hwa</dc:creator>
  <cp:lastModifiedBy>young hwa</cp:lastModifiedBy>
  <cp:revision>11</cp:revision>
  <dcterms:created xsi:type="dcterms:W3CDTF">2023-03-14T13:37:58Z</dcterms:created>
  <dcterms:modified xsi:type="dcterms:W3CDTF">2023-03-16T12:34:46Z</dcterms:modified>
</cp:coreProperties>
</file>